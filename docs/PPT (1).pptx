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media/image3.jpg" ContentType="image/unknown"/>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62" r:id="rId4"/>
    <p:sldId id="258" r:id="rId5"/>
    <p:sldId id="259" r:id="rId6"/>
    <p:sldId id="260" r:id="rId7"/>
    <p:sldId id="264" r:id="rId8"/>
    <p:sldId id="265" r:id="rId9"/>
    <p:sldId id="261" r:id="rId10"/>
    <p:sldId id="263"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0" autoAdjust="0"/>
    <p:restoredTop sz="94660"/>
  </p:normalViewPr>
  <p:slideViewPr>
    <p:cSldViewPr snapToGrid="0">
      <p:cViewPr>
        <p:scale>
          <a:sx n="71" d="100"/>
          <a:sy n="71" d="100"/>
        </p:scale>
        <p:origin x="49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614BD36-7867-4076-8384-706B1CBB2826}" type="datetimeFigureOut">
              <a:rPr lang="en-US" smtClean="0"/>
              <a:t>11/28/2021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2AAB2E-D778-4C47-B095-4E3C7147F69E}" type="slidenum">
              <a:rPr lang="en-US" smtClean="0"/>
              <a:t>‹#›</a:t>
            </a:fld>
            <a:endParaRPr lang="en-US"/>
          </a:p>
        </p:txBody>
      </p:sp>
    </p:spTree>
    <p:extLst>
      <p:ext uri="{BB962C8B-B14F-4D97-AF65-F5344CB8AC3E}">
        <p14:creationId xmlns:p14="http://schemas.microsoft.com/office/powerpoint/2010/main" val="18329407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614BD36-7867-4076-8384-706B1CBB2826}" type="datetimeFigureOut">
              <a:rPr lang="en-US" smtClean="0"/>
              <a:t>11/28/2021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2AAB2E-D778-4C47-B095-4E3C7147F69E}" type="slidenum">
              <a:rPr lang="en-US" smtClean="0"/>
              <a:t>‹#›</a:t>
            </a:fld>
            <a:endParaRPr lang="en-US"/>
          </a:p>
        </p:txBody>
      </p:sp>
    </p:spTree>
    <p:extLst>
      <p:ext uri="{BB962C8B-B14F-4D97-AF65-F5344CB8AC3E}">
        <p14:creationId xmlns:p14="http://schemas.microsoft.com/office/powerpoint/2010/main" val="39293994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614BD36-7867-4076-8384-706B1CBB2826}" type="datetimeFigureOut">
              <a:rPr lang="en-US" smtClean="0"/>
              <a:t>11/28/2021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2AAB2E-D778-4C47-B095-4E3C7147F69E}" type="slidenum">
              <a:rPr lang="en-US" smtClean="0"/>
              <a:t>‹#›</a:t>
            </a:fld>
            <a:endParaRPr lang="en-US"/>
          </a:p>
        </p:txBody>
      </p:sp>
    </p:spTree>
    <p:extLst>
      <p:ext uri="{BB962C8B-B14F-4D97-AF65-F5344CB8AC3E}">
        <p14:creationId xmlns:p14="http://schemas.microsoft.com/office/powerpoint/2010/main" val="19866651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614BD36-7867-4076-8384-706B1CBB2826}" type="datetimeFigureOut">
              <a:rPr lang="en-US" smtClean="0"/>
              <a:t>11/28/2021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22AAB2E-D778-4C47-B095-4E3C7147F69E}" type="slidenum">
              <a:rPr lang="en-US" smtClean="0"/>
              <a:t>‹#›</a:t>
            </a:fld>
            <a:endParaRPr lang="en-US"/>
          </a:p>
        </p:txBody>
      </p:sp>
    </p:spTree>
    <p:extLst>
      <p:ext uri="{BB962C8B-B14F-4D97-AF65-F5344CB8AC3E}">
        <p14:creationId xmlns:p14="http://schemas.microsoft.com/office/powerpoint/2010/main" val="6492433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614BD36-7867-4076-8384-706B1CBB2826}" type="datetimeFigureOut">
              <a:rPr lang="en-US" smtClean="0"/>
              <a:t>11/28/2021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22AAB2E-D778-4C47-B095-4E3C7147F69E}" type="slidenum">
              <a:rPr lang="en-US" smtClean="0"/>
              <a:t>‹#›</a:t>
            </a:fld>
            <a:endParaRPr lang="en-US"/>
          </a:p>
        </p:txBody>
      </p:sp>
    </p:spTree>
    <p:extLst>
      <p:ext uri="{BB962C8B-B14F-4D97-AF65-F5344CB8AC3E}">
        <p14:creationId xmlns:p14="http://schemas.microsoft.com/office/powerpoint/2010/main" val="11200926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614BD36-7867-4076-8384-706B1CBB2826}" type="datetimeFigureOut">
              <a:rPr lang="en-US" smtClean="0"/>
              <a:t>11/28/2021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22AAB2E-D778-4C47-B095-4E3C7147F69E}" type="slidenum">
              <a:rPr lang="en-US" smtClean="0"/>
              <a:t>‹#›</a:t>
            </a:fld>
            <a:endParaRPr lang="en-US"/>
          </a:p>
        </p:txBody>
      </p:sp>
    </p:spTree>
    <p:extLst>
      <p:ext uri="{BB962C8B-B14F-4D97-AF65-F5344CB8AC3E}">
        <p14:creationId xmlns:p14="http://schemas.microsoft.com/office/powerpoint/2010/main" val="18803143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614BD36-7867-4076-8384-706B1CBB2826}" type="datetimeFigureOut">
              <a:rPr lang="en-US" smtClean="0"/>
              <a:t>11/28/2021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22AAB2E-D778-4C47-B095-4E3C7147F69E}" type="slidenum">
              <a:rPr lang="en-US" smtClean="0"/>
              <a:t>‹#›</a:t>
            </a:fld>
            <a:endParaRPr lang="en-US"/>
          </a:p>
        </p:txBody>
      </p:sp>
    </p:spTree>
    <p:extLst>
      <p:ext uri="{BB962C8B-B14F-4D97-AF65-F5344CB8AC3E}">
        <p14:creationId xmlns:p14="http://schemas.microsoft.com/office/powerpoint/2010/main" val="3276440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614BD36-7867-4076-8384-706B1CBB2826}" type="datetimeFigureOut">
              <a:rPr lang="en-US" smtClean="0"/>
              <a:t>11/28/2021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22AAB2E-D778-4C47-B095-4E3C7147F69E}" type="slidenum">
              <a:rPr lang="en-US" smtClean="0"/>
              <a:t>‹#›</a:t>
            </a:fld>
            <a:endParaRPr lang="en-US"/>
          </a:p>
        </p:txBody>
      </p:sp>
    </p:spTree>
    <p:extLst>
      <p:ext uri="{BB962C8B-B14F-4D97-AF65-F5344CB8AC3E}">
        <p14:creationId xmlns:p14="http://schemas.microsoft.com/office/powerpoint/2010/main" val="19386625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614BD36-7867-4076-8384-706B1CBB2826}" type="datetimeFigureOut">
              <a:rPr lang="en-US" smtClean="0"/>
              <a:t>11/28/2021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22AAB2E-D778-4C47-B095-4E3C7147F69E}" type="slidenum">
              <a:rPr lang="en-US" smtClean="0"/>
              <a:t>‹#›</a:t>
            </a:fld>
            <a:endParaRPr lang="en-US"/>
          </a:p>
        </p:txBody>
      </p:sp>
    </p:spTree>
    <p:extLst>
      <p:ext uri="{BB962C8B-B14F-4D97-AF65-F5344CB8AC3E}">
        <p14:creationId xmlns:p14="http://schemas.microsoft.com/office/powerpoint/2010/main" val="42292895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614BD36-7867-4076-8384-706B1CBB2826}" type="datetimeFigureOut">
              <a:rPr lang="en-US" smtClean="0"/>
              <a:t>11/28/2021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2AAB2E-D778-4C47-B095-4E3C7147F69E}" type="slidenum">
              <a:rPr lang="en-US" smtClean="0"/>
              <a:t>‹#›</a:t>
            </a:fld>
            <a:endParaRPr lang="en-US"/>
          </a:p>
        </p:txBody>
      </p:sp>
    </p:spTree>
    <p:extLst>
      <p:ext uri="{BB962C8B-B14F-4D97-AF65-F5344CB8AC3E}">
        <p14:creationId xmlns:p14="http://schemas.microsoft.com/office/powerpoint/2010/main" val="22312848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614BD36-7867-4076-8384-706B1CBB2826}" type="datetimeFigureOut">
              <a:rPr lang="en-US" smtClean="0"/>
              <a:t>11/28/2021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2AAB2E-D778-4C47-B095-4E3C7147F69E}" type="slidenum">
              <a:rPr lang="en-US" smtClean="0"/>
              <a:t>‹#›</a:t>
            </a:fld>
            <a:endParaRPr lang="en-US"/>
          </a:p>
        </p:txBody>
      </p:sp>
    </p:spTree>
    <p:extLst>
      <p:ext uri="{BB962C8B-B14F-4D97-AF65-F5344CB8AC3E}">
        <p14:creationId xmlns:p14="http://schemas.microsoft.com/office/powerpoint/2010/main" val="36508866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614BD36-7867-4076-8384-706B1CBB2826}" type="datetimeFigureOut">
              <a:rPr lang="en-US" smtClean="0"/>
              <a:t>11/28/2021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2AAB2E-D778-4C47-B095-4E3C7147F69E}" type="slidenum">
              <a:rPr lang="en-US" smtClean="0"/>
              <a:t>‹#›</a:t>
            </a:fld>
            <a:endParaRPr lang="en-US"/>
          </a:p>
        </p:txBody>
      </p:sp>
    </p:spTree>
    <p:extLst>
      <p:ext uri="{BB962C8B-B14F-4D97-AF65-F5344CB8AC3E}">
        <p14:creationId xmlns:p14="http://schemas.microsoft.com/office/powerpoint/2010/main" val="39003451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1C051-EB17-4840-930D-4E907772CFA2}"/>
              </a:ext>
            </a:extLst>
          </p:cNvPr>
          <p:cNvSpPr>
            <a:spLocks noGrp="1"/>
          </p:cNvSpPr>
          <p:nvPr>
            <p:ph type="ctrTitle"/>
          </p:nvPr>
        </p:nvSpPr>
        <p:spPr>
          <a:xfrm>
            <a:off x="1524000" y="887105"/>
            <a:ext cx="9144000" cy="1200329"/>
          </a:xfrm>
        </p:spPr>
        <p:txBody>
          <a:bodyPr/>
          <a:lstStyle/>
          <a:p>
            <a:r>
              <a:rPr lang="en-US" b="1" u="sng" dirty="0">
                <a:solidFill>
                  <a:schemeClr val="bg1"/>
                </a:solidFill>
              </a:rPr>
              <a:t>FACE RECOGNITION</a:t>
            </a:r>
          </a:p>
        </p:txBody>
      </p:sp>
      <p:sp>
        <p:nvSpPr>
          <p:cNvPr id="3" name="Subtitle 2">
            <a:extLst>
              <a:ext uri="{FF2B5EF4-FFF2-40B4-BE49-F238E27FC236}">
                <a16:creationId xmlns:a16="http://schemas.microsoft.com/office/drawing/2014/main" id="{A3BA5A37-9282-449C-8317-4475277C53F2}"/>
              </a:ext>
            </a:extLst>
          </p:cNvPr>
          <p:cNvSpPr>
            <a:spLocks noGrp="1"/>
          </p:cNvSpPr>
          <p:nvPr>
            <p:ph type="subTitle" idx="1"/>
          </p:nvPr>
        </p:nvSpPr>
        <p:spPr>
          <a:xfrm>
            <a:off x="705134" y="5233430"/>
            <a:ext cx="2979761" cy="1474929"/>
          </a:xfrm>
        </p:spPr>
        <p:txBody>
          <a:bodyPr/>
          <a:lstStyle/>
          <a:p>
            <a:pPr algn="l"/>
            <a:r>
              <a:rPr lang="en-US" dirty="0">
                <a:solidFill>
                  <a:schemeClr val="bg1"/>
                </a:solidFill>
              </a:rPr>
              <a:t>Submitted to:</a:t>
            </a:r>
          </a:p>
          <a:p>
            <a:pPr algn="l"/>
            <a:r>
              <a:rPr lang="en-US" dirty="0">
                <a:solidFill>
                  <a:schemeClr val="bg1"/>
                </a:solidFill>
              </a:rPr>
              <a:t>Mr. Vikrant </a:t>
            </a:r>
            <a:r>
              <a:rPr lang="en-US" dirty="0" err="1">
                <a:solidFill>
                  <a:schemeClr val="bg1"/>
                </a:solidFill>
              </a:rPr>
              <a:t>Manocha</a:t>
            </a:r>
            <a:endParaRPr lang="en-US" dirty="0">
              <a:solidFill>
                <a:schemeClr val="bg1"/>
              </a:solidFill>
            </a:endParaRPr>
          </a:p>
        </p:txBody>
      </p:sp>
      <p:sp>
        <p:nvSpPr>
          <p:cNvPr id="4" name="TextBox 3">
            <a:extLst>
              <a:ext uri="{FF2B5EF4-FFF2-40B4-BE49-F238E27FC236}">
                <a16:creationId xmlns:a16="http://schemas.microsoft.com/office/drawing/2014/main" id="{27EA96BE-D991-4108-AE62-BF2725839188}"/>
              </a:ext>
            </a:extLst>
          </p:cNvPr>
          <p:cNvSpPr txBox="1"/>
          <p:nvPr/>
        </p:nvSpPr>
        <p:spPr>
          <a:xfrm>
            <a:off x="7955208" y="5192531"/>
            <a:ext cx="3200400" cy="1200329"/>
          </a:xfrm>
          <a:prstGeom prst="rect">
            <a:avLst/>
          </a:prstGeom>
          <a:noFill/>
        </p:spPr>
        <p:txBody>
          <a:bodyPr wrap="square" rtlCol="0">
            <a:spAutoFit/>
          </a:bodyPr>
          <a:lstStyle/>
          <a:p>
            <a:r>
              <a:rPr lang="en-US" dirty="0">
                <a:solidFill>
                  <a:schemeClr val="bg1"/>
                </a:solidFill>
              </a:rPr>
              <a:t>Submitted by:</a:t>
            </a:r>
          </a:p>
          <a:p>
            <a:r>
              <a:rPr lang="en-US" dirty="0">
                <a:solidFill>
                  <a:schemeClr val="bg1"/>
                </a:solidFill>
              </a:rPr>
              <a:t>Gourav Rana (11192588)</a:t>
            </a:r>
          </a:p>
          <a:p>
            <a:r>
              <a:rPr lang="en-US" dirty="0">
                <a:solidFill>
                  <a:schemeClr val="bg1"/>
                </a:solidFill>
              </a:rPr>
              <a:t>Neeraj Saini (11192576)</a:t>
            </a:r>
          </a:p>
          <a:p>
            <a:r>
              <a:rPr lang="en-US" dirty="0">
                <a:solidFill>
                  <a:schemeClr val="bg1"/>
                </a:solidFill>
              </a:rPr>
              <a:t>Abhishek </a:t>
            </a:r>
            <a:r>
              <a:rPr lang="en-US" dirty="0" err="1">
                <a:solidFill>
                  <a:schemeClr val="bg1"/>
                </a:solidFill>
              </a:rPr>
              <a:t>Pundir</a:t>
            </a:r>
            <a:r>
              <a:rPr lang="en-US" dirty="0">
                <a:solidFill>
                  <a:schemeClr val="bg1"/>
                </a:solidFill>
              </a:rPr>
              <a:t> (11192586)</a:t>
            </a:r>
          </a:p>
        </p:txBody>
      </p:sp>
    </p:spTree>
    <p:extLst>
      <p:ext uri="{BB962C8B-B14F-4D97-AF65-F5344CB8AC3E}">
        <p14:creationId xmlns:p14="http://schemas.microsoft.com/office/powerpoint/2010/main" val="18339853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61DC078-5471-44C6-A7FD-F661AD6D9DF5}"/>
              </a:ext>
            </a:extLst>
          </p:cNvPr>
          <p:cNvSpPr txBox="1"/>
          <p:nvPr/>
        </p:nvSpPr>
        <p:spPr>
          <a:xfrm>
            <a:off x="958354" y="280806"/>
            <a:ext cx="6599051" cy="707886"/>
          </a:xfrm>
          <a:prstGeom prst="rect">
            <a:avLst/>
          </a:prstGeom>
          <a:noFill/>
        </p:spPr>
        <p:txBody>
          <a:bodyPr wrap="square" rtlCol="0">
            <a:spAutoFit/>
          </a:bodyPr>
          <a:lstStyle/>
          <a:p>
            <a:r>
              <a:rPr lang="en-US" sz="4000" b="1" u="sng" dirty="0">
                <a:solidFill>
                  <a:schemeClr val="bg1"/>
                </a:solidFill>
              </a:rPr>
              <a:t>INTRODUCTION</a:t>
            </a:r>
          </a:p>
        </p:txBody>
      </p:sp>
      <p:sp>
        <p:nvSpPr>
          <p:cNvPr id="3" name="TextBox 2">
            <a:extLst>
              <a:ext uri="{FF2B5EF4-FFF2-40B4-BE49-F238E27FC236}">
                <a16:creationId xmlns:a16="http://schemas.microsoft.com/office/drawing/2014/main" id="{CCEA4EF9-472E-4929-BF9B-A4AAD050EAB5}"/>
              </a:ext>
            </a:extLst>
          </p:cNvPr>
          <p:cNvSpPr txBox="1"/>
          <p:nvPr/>
        </p:nvSpPr>
        <p:spPr>
          <a:xfrm>
            <a:off x="1075764" y="1906034"/>
            <a:ext cx="6777318" cy="3046988"/>
          </a:xfrm>
          <a:prstGeom prst="rect">
            <a:avLst/>
          </a:prstGeom>
          <a:noFill/>
        </p:spPr>
        <p:txBody>
          <a:bodyPr wrap="square" rtlCol="0">
            <a:spAutoFit/>
          </a:bodyPr>
          <a:lstStyle/>
          <a:p>
            <a:r>
              <a:rPr lang="en-US" sz="2400" b="0" i="0" dirty="0">
                <a:solidFill>
                  <a:schemeClr val="bg1"/>
                </a:solidFill>
                <a:effectLst/>
                <a:latin typeface="MuseoSans"/>
              </a:rPr>
              <a:t>Many people are familiar with face recognition technology through the </a:t>
            </a:r>
            <a:r>
              <a:rPr lang="en-US" sz="2400" b="0" i="0" dirty="0" err="1">
                <a:solidFill>
                  <a:schemeClr val="bg1"/>
                </a:solidFill>
                <a:effectLst/>
                <a:latin typeface="MuseoSans"/>
              </a:rPr>
              <a:t>FaceID</a:t>
            </a:r>
            <a:r>
              <a:rPr lang="en-US" sz="2400" b="0" i="0" dirty="0">
                <a:solidFill>
                  <a:schemeClr val="bg1"/>
                </a:solidFill>
                <a:effectLst/>
                <a:latin typeface="MuseoSans"/>
              </a:rPr>
              <a:t> used to unlock iPhones (however, this is only one application of face recognition). Typically, facial recognition does not rely on a massive database of photos to determine an individual’s identity — it simply identifies and recognizes one person as the sole owner of the device, while limiting access to others.</a:t>
            </a:r>
            <a:endParaRPr lang="en-US" sz="2400" dirty="0">
              <a:solidFill>
                <a:schemeClr val="bg1"/>
              </a:solidFill>
            </a:endParaRPr>
          </a:p>
        </p:txBody>
      </p:sp>
    </p:spTree>
    <p:extLst>
      <p:ext uri="{BB962C8B-B14F-4D97-AF65-F5344CB8AC3E}">
        <p14:creationId xmlns:p14="http://schemas.microsoft.com/office/powerpoint/2010/main" val="15899311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3B0BEB2-59DF-426B-8EF2-E05067D04220}"/>
              </a:ext>
            </a:extLst>
          </p:cNvPr>
          <p:cNvSpPr txBox="1"/>
          <p:nvPr/>
        </p:nvSpPr>
        <p:spPr>
          <a:xfrm>
            <a:off x="376918" y="148318"/>
            <a:ext cx="8861211" cy="5463034"/>
          </a:xfrm>
          <a:prstGeom prst="rect">
            <a:avLst/>
          </a:prstGeom>
          <a:noFill/>
        </p:spPr>
        <p:txBody>
          <a:bodyPr wrap="square" rtlCol="0">
            <a:spAutoFit/>
          </a:bodyPr>
          <a:lstStyle/>
          <a:p>
            <a:pPr marL="0" marR="0">
              <a:spcBef>
                <a:spcPts val="925"/>
              </a:spcBef>
              <a:spcAft>
                <a:spcPts val="0"/>
              </a:spcAft>
            </a:pPr>
            <a:r>
              <a:rPr lang="en-US" sz="4000" b="1" u="sng" dirty="0">
                <a:solidFill>
                  <a:schemeClr val="bg1"/>
                </a:solidFill>
                <a:effectLst/>
                <a:latin typeface="Trebuchet MS" panose="020B0603020202020204" pitchFamily="34" charset="0"/>
                <a:ea typeface="Arial" panose="020B0604020202020204" pitchFamily="34" charset="0"/>
              </a:rPr>
              <a:t>OBJECTIVE OF THE PROJECT</a:t>
            </a:r>
          </a:p>
          <a:p>
            <a:pPr marL="0" marR="0">
              <a:spcBef>
                <a:spcPts val="925"/>
              </a:spcBef>
              <a:spcAft>
                <a:spcPts val="0"/>
              </a:spcAft>
            </a:pPr>
            <a:endParaRPr lang="en-US" b="1" i="1" dirty="0">
              <a:solidFill>
                <a:schemeClr val="bg1"/>
              </a:solidFill>
              <a:latin typeface="Trebuchet MS" panose="020B0603020202020204" pitchFamily="34" charset="0"/>
              <a:ea typeface="Arial" panose="020B0604020202020204" pitchFamily="34" charset="0"/>
            </a:endParaRPr>
          </a:p>
          <a:p>
            <a:pPr marL="0" marR="0">
              <a:spcBef>
                <a:spcPts val="925"/>
              </a:spcBef>
              <a:spcAft>
                <a:spcPts val="0"/>
              </a:spcAft>
            </a:pPr>
            <a:endParaRPr lang="en-US" sz="1800" dirty="0">
              <a:solidFill>
                <a:schemeClr val="bg1"/>
              </a:solidFill>
              <a:effectLst/>
              <a:latin typeface="Arial" panose="020B0604020202020204" pitchFamily="34" charset="0"/>
              <a:ea typeface="Arial" panose="020B0604020202020204" pitchFamily="34" charset="0"/>
            </a:endParaRPr>
          </a:p>
          <a:p>
            <a:pPr marL="127000" marR="0" algn="just">
              <a:spcBef>
                <a:spcPts val="0"/>
              </a:spcBef>
              <a:spcAft>
                <a:spcPts val="0"/>
              </a:spcAft>
            </a:pPr>
            <a:r>
              <a:rPr lang="en-US" sz="2400" b="0" u="none" strike="noStrike" dirty="0">
                <a:solidFill>
                  <a:schemeClr val="bg1"/>
                </a:solidFill>
                <a:effectLst/>
                <a:uFill>
                  <a:solidFill>
                    <a:srgbClr val="000000"/>
                  </a:solidFill>
                </a:uFill>
                <a:latin typeface="Arial" panose="020B0604020202020204" pitchFamily="34" charset="0"/>
                <a:ea typeface="Trebuchet MS" panose="020B0603020202020204" pitchFamily="34" charset="0"/>
                <a:cs typeface="Trebuchet MS" panose="020B0603020202020204" pitchFamily="34" charset="0"/>
              </a:rPr>
              <a:t>One of the most challenging tasks for visual form (’shape’) analysis and object. Recognition is the understanding of how people process and recognize each other’s face, and the development of corresponding computational models. The objective of this project is therefore to write a </a:t>
            </a:r>
            <a:r>
              <a:rPr lang="en-US" sz="2400" b="0" u="none" strike="noStrike" dirty="0" err="1">
                <a:solidFill>
                  <a:schemeClr val="bg1"/>
                </a:solidFill>
                <a:effectLst/>
                <a:uFill>
                  <a:solidFill>
                    <a:srgbClr val="000000"/>
                  </a:solidFill>
                </a:uFill>
                <a:latin typeface="Arial" panose="020B0604020202020204" pitchFamily="34" charset="0"/>
                <a:ea typeface="Trebuchet MS" panose="020B0603020202020204" pitchFamily="34" charset="0"/>
                <a:cs typeface="Trebuchet MS" panose="020B0603020202020204" pitchFamily="34" charset="0"/>
              </a:rPr>
              <a:t>Matlab</a:t>
            </a:r>
            <a:r>
              <a:rPr lang="en-US" sz="2400" b="0" u="none" strike="noStrike" dirty="0">
                <a:solidFill>
                  <a:schemeClr val="bg1"/>
                </a:solidFill>
                <a:effectLst/>
                <a:uFill>
                  <a:solidFill>
                    <a:srgbClr val="000000"/>
                  </a:solidFill>
                </a:uFill>
                <a:latin typeface="Arial" panose="020B0604020202020204" pitchFamily="34" charset="0"/>
                <a:ea typeface="Trebuchet MS" panose="020B0603020202020204" pitchFamily="34" charset="0"/>
                <a:cs typeface="Trebuchet MS" panose="020B0603020202020204" pitchFamily="34" charset="0"/>
              </a:rPr>
              <a:t> code in such a way that it can recognize the gender of a person from given frontal image. The algorithm will be a combination of various proposed method along with some other features . Finally, this project hopefully can be a relatively good gender classifier as other proposed methods.</a:t>
            </a:r>
            <a:endParaRPr lang="en-US" sz="2400" b="1" u="sng" dirty="0">
              <a:solidFill>
                <a:schemeClr val="bg1"/>
              </a:solidFill>
              <a:effectLst/>
              <a:uFill>
                <a:solidFill>
                  <a:srgbClr val="000000"/>
                </a:solidFill>
              </a:uFill>
              <a:latin typeface="Trebuchet MS" panose="020B0603020202020204" pitchFamily="34" charset="0"/>
              <a:ea typeface="Trebuchet MS" panose="020B0603020202020204" pitchFamily="34" charset="0"/>
              <a:cs typeface="Trebuchet MS" panose="020B0603020202020204" pitchFamily="34" charset="0"/>
            </a:endParaRPr>
          </a:p>
          <a:p>
            <a:endParaRPr lang="en-US" dirty="0"/>
          </a:p>
        </p:txBody>
      </p:sp>
    </p:spTree>
    <p:extLst>
      <p:ext uri="{BB962C8B-B14F-4D97-AF65-F5344CB8AC3E}">
        <p14:creationId xmlns:p14="http://schemas.microsoft.com/office/powerpoint/2010/main" val="17529473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9426A5F-76F3-4DFE-B958-61D88C2B2512}"/>
              </a:ext>
            </a:extLst>
          </p:cNvPr>
          <p:cNvSpPr txBox="1"/>
          <p:nvPr/>
        </p:nvSpPr>
        <p:spPr>
          <a:xfrm>
            <a:off x="5871411" y="641684"/>
            <a:ext cx="4572000" cy="369332"/>
          </a:xfrm>
          <a:prstGeom prst="rect">
            <a:avLst/>
          </a:prstGeom>
          <a:noFill/>
        </p:spPr>
        <p:txBody>
          <a:bodyPr wrap="square" rtlCol="0">
            <a:spAutoFit/>
          </a:bodyPr>
          <a:lstStyle/>
          <a:p>
            <a:r>
              <a:rPr lang="en-US" dirty="0"/>
              <a:t>FACE RECOGNITION</a:t>
            </a:r>
          </a:p>
        </p:txBody>
      </p:sp>
      <p:pic>
        <p:nvPicPr>
          <p:cNvPr id="1026" name="Picture 2" descr="Facial Recognition - Shaping the future of Identity Verification Market -  ReadWrite">
            <a:extLst>
              <a:ext uri="{FF2B5EF4-FFF2-40B4-BE49-F238E27FC236}">
                <a16:creationId xmlns:a16="http://schemas.microsoft.com/office/drawing/2014/main" id="{B4E9FA53-0EC6-41FA-9C1F-188EFFFA75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2192001"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8D1212A0-5544-492B-9905-7CD4FD153EB3}"/>
              </a:ext>
            </a:extLst>
          </p:cNvPr>
          <p:cNvSpPr txBox="1"/>
          <p:nvPr/>
        </p:nvSpPr>
        <p:spPr>
          <a:xfrm>
            <a:off x="159824" y="3133955"/>
            <a:ext cx="6186386" cy="2308324"/>
          </a:xfrm>
          <a:prstGeom prst="rect">
            <a:avLst/>
          </a:prstGeom>
          <a:noFill/>
        </p:spPr>
        <p:txBody>
          <a:bodyPr wrap="square" rtlCol="0">
            <a:spAutoFit/>
          </a:bodyPr>
          <a:lstStyle/>
          <a:p>
            <a:r>
              <a:rPr lang="en-US" sz="2400" b="0" i="0" dirty="0">
                <a:solidFill>
                  <a:schemeClr val="bg1"/>
                </a:solidFill>
                <a:effectLst/>
                <a:latin typeface="Merriweather" panose="020B0604020202020204" pitchFamily="2" charset="0"/>
              </a:rPr>
              <a:t>Face recognition is a method of identifying or verifying the identity of an individual using their face. Face recognition systems can be used to identify people in photos, video, or in real-time.</a:t>
            </a:r>
            <a:endParaRPr lang="en-US" sz="2400" dirty="0">
              <a:solidFill>
                <a:schemeClr val="bg1"/>
              </a:solidFill>
            </a:endParaRPr>
          </a:p>
        </p:txBody>
      </p:sp>
    </p:spTree>
    <p:extLst>
      <p:ext uri="{BB962C8B-B14F-4D97-AF65-F5344CB8AC3E}">
        <p14:creationId xmlns:p14="http://schemas.microsoft.com/office/powerpoint/2010/main" val="12258591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2E544E9-49BD-4B62-9252-479D02D2B4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1999" cy="6858000"/>
          </a:xfrm>
          <a:prstGeom prst="rect">
            <a:avLst/>
          </a:prstGeom>
        </p:spPr>
      </p:pic>
      <p:sp>
        <p:nvSpPr>
          <p:cNvPr id="4" name="Rectangle 3">
            <a:extLst>
              <a:ext uri="{FF2B5EF4-FFF2-40B4-BE49-F238E27FC236}">
                <a16:creationId xmlns:a16="http://schemas.microsoft.com/office/drawing/2014/main" id="{9DA68FCD-4B9A-492C-B427-73E06753F5EE}"/>
              </a:ext>
            </a:extLst>
          </p:cNvPr>
          <p:cNvSpPr/>
          <p:nvPr/>
        </p:nvSpPr>
        <p:spPr>
          <a:xfrm>
            <a:off x="4523874" y="3429000"/>
            <a:ext cx="3874167" cy="2995863"/>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2210113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CF28776-FDE6-4EF6-A6DF-74BF33203B3B}"/>
              </a:ext>
            </a:extLst>
          </p:cNvPr>
          <p:cNvSpPr txBox="1"/>
          <p:nvPr/>
        </p:nvSpPr>
        <p:spPr>
          <a:xfrm>
            <a:off x="1641764" y="487578"/>
            <a:ext cx="3885594" cy="830997"/>
          </a:xfrm>
          <a:prstGeom prst="rect">
            <a:avLst/>
          </a:prstGeom>
          <a:noFill/>
        </p:spPr>
        <p:txBody>
          <a:bodyPr wrap="square" rtlCol="0">
            <a:spAutoFit/>
          </a:bodyPr>
          <a:lstStyle/>
          <a:p>
            <a:r>
              <a:rPr lang="en-US" sz="4800" b="1" i="0" u="sng" dirty="0">
                <a:solidFill>
                  <a:schemeClr val="bg1"/>
                </a:solidFill>
                <a:effectLst/>
                <a:latin typeface="Arial" panose="020B0604020202020204" pitchFamily="34" charset="0"/>
              </a:rPr>
              <a:t>Advantages</a:t>
            </a:r>
            <a:r>
              <a:rPr lang="en-US" b="1" i="0" dirty="0">
                <a:solidFill>
                  <a:schemeClr val="bg1"/>
                </a:solidFill>
                <a:effectLst/>
                <a:latin typeface="Arial" panose="020B0604020202020204" pitchFamily="34" charset="0"/>
              </a:rPr>
              <a:t> </a:t>
            </a:r>
            <a:endParaRPr lang="en-US" dirty="0"/>
          </a:p>
        </p:txBody>
      </p:sp>
      <p:sp>
        <p:nvSpPr>
          <p:cNvPr id="3" name="TextBox 2">
            <a:extLst>
              <a:ext uri="{FF2B5EF4-FFF2-40B4-BE49-F238E27FC236}">
                <a16:creationId xmlns:a16="http://schemas.microsoft.com/office/drawing/2014/main" id="{7E7A44EF-058F-44C9-8F7D-3F7C146F13E6}"/>
              </a:ext>
            </a:extLst>
          </p:cNvPr>
          <p:cNvSpPr txBox="1"/>
          <p:nvPr/>
        </p:nvSpPr>
        <p:spPr>
          <a:xfrm>
            <a:off x="1641764" y="2161309"/>
            <a:ext cx="7356763" cy="2585323"/>
          </a:xfrm>
          <a:prstGeom prst="rect">
            <a:avLst/>
          </a:prstGeom>
          <a:noFill/>
        </p:spPr>
        <p:txBody>
          <a:bodyPr wrap="square" rtlCol="0">
            <a:spAutoFit/>
          </a:bodyPr>
          <a:lstStyle/>
          <a:p>
            <a:r>
              <a:rPr lang="en-US" b="1" i="0" dirty="0">
                <a:solidFill>
                  <a:schemeClr val="bg1"/>
                </a:solidFill>
                <a:effectLst/>
                <a:latin typeface="Arial" panose="020B0604020202020204" pitchFamily="34" charset="0"/>
              </a:rPr>
              <a:t>Improved security. </a:t>
            </a:r>
            <a:r>
              <a:rPr lang="en-US" b="0" i="0" dirty="0">
                <a:solidFill>
                  <a:schemeClr val="bg1"/>
                </a:solidFill>
                <a:effectLst/>
                <a:latin typeface="Arial" panose="020B0604020202020204" pitchFamily="34" charset="0"/>
              </a:rPr>
              <a:t>Face detection improves surveillance efforts and helps track down criminals and terrorists. </a:t>
            </a:r>
          </a:p>
          <a:p>
            <a:endParaRPr lang="en-US" b="0" i="0" dirty="0">
              <a:solidFill>
                <a:schemeClr val="bg1"/>
              </a:solidFill>
              <a:effectLst/>
              <a:latin typeface="Arial" panose="020B0604020202020204" pitchFamily="34" charset="0"/>
            </a:endParaRPr>
          </a:p>
          <a:p>
            <a:r>
              <a:rPr lang="en-US" b="1" i="0" dirty="0">
                <a:solidFill>
                  <a:schemeClr val="bg1"/>
                </a:solidFill>
                <a:effectLst/>
                <a:latin typeface="Arial" panose="020B0604020202020204" pitchFamily="34" charset="0"/>
              </a:rPr>
              <a:t>Easy to integrate. </a:t>
            </a:r>
            <a:r>
              <a:rPr lang="en-US" b="0" i="0" dirty="0">
                <a:solidFill>
                  <a:schemeClr val="bg1"/>
                </a:solidFill>
                <a:effectLst/>
                <a:latin typeface="Arial" panose="020B0604020202020204" pitchFamily="34" charset="0"/>
              </a:rPr>
              <a:t>Face detection and facial recognition technology is easy to integrate, and most solutions are compatible with the majority of security software.</a:t>
            </a:r>
          </a:p>
          <a:p>
            <a:endParaRPr lang="en-US" b="0" i="0" dirty="0">
              <a:solidFill>
                <a:schemeClr val="bg1"/>
              </a:solidFill>
              <a:effectLst/>
              <a:latin typeface="Arial" panose="020B0604020202020204" pitchFamily="34" charset="0"/>
            </a:endParaRPr>
          </a:p>
          <a:p>
            <a:r>
              <a:rPr lang="en-US" b="1" i="0" dirty="0">
                <a:solidFill>
                  <a:schemeClr val="bg1"/>
                </a:solidFill>
                <a:effectLst/>
                <a:latin typeface="Arial" panose="020B0604020202020204" pitchFamily="34" charset="0"/>
              </a:rPr>
              <a:t>Automated identification. </a:t>
            </a:r>
            <a:r>
              <a:rPr lang="en-US" b="0" i="0" dirty="0">
                <a:solidFill>
                  <a:schemeClr val="bg1"/>
                </a:solidFill>
                <a:effectLst/>
                <a:latin typeface="Arial" panose="020B0604020202020204" pitchFamily="34" charset="0"/>
              </a:rPr>
              <a:t>In the past, identification was manually performed by a person; this was inefficient and frequently inaccurate</a:t>
            </a:r>
            <a:r>
              <a:rPr lang="en-US" b="0" i="0" dirty="0">
                <a:solidFill>
                  <a:srgbClr val="666666"/>
                </a:solidFill>
                <a:effectLst/>
                <a:latin typeface="Arial" panose="020B0604020202020204" pitchFamily="34" charset="0"/>
              </a:rPr>
              <a:t>.</a:t>
            </a:r>
            <a:endParaRPr lang="en-US" dirty="0"/>
          </a:p>
        </p:txBody>
      </p:sp>
    </p:spTree>
    <p:extLst>
      <p:ext uri="{BB962C8B-B14F-4D97-AF65-F5344CB8AC3E}">
        <p14:creationId xmlns:p14="http://schemas.microsoft.com/office/powerpoint/2010/main" val="16523715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BC6DAAB-D76A-4327-860C-E8B83473C921}"/>
              </a:ext>
            </a:extLst>
          </p:cNvPr>
          <p:cNvSpPr txBox="1"/>
          <p:nvPr/>
        </p:nvSpPr>
        <p:spPr>
          <a:xfrm>
            <a:off x="0" y="0"/>
            <a:ext cx="7879976" cy="707886"/>
          </a:xfrm>
          <a:prstGeom prst="rect">
            <a:avLst/>
          </a:prstGeom>
          <a:noFill/>
        </p:spPr>
        <p:txBody>
          <a:bodyPr wrap="square" rtlCol="0">
            <a:spAutoFit/>
          </a:bodyPr>
          <a:lstStyle/>
          <a:p>
            <a:r>
              <a:rPr lang="en-US" sz="4000" b="1" u="sng" dirty="0">
                <a:solidFill>
                  <a:schemeClr val="bg1"/>
                </a:solidFill>
              </a:rPr>
              <a:t>Uses of Face Recognition</a:t>
            </a:r>
          </a:p>
        </p:txBody>
      </p:sp>
      <p:sp>
        <p:nvSpPr>
          <p:cNvPr id="3" name="TextBox 2">
            <a:extLst>
              <a:ext uri="{FF2B5EF4-FFF2-40B4-BE49-F238E27FC236}">
                <a16:creationId xmlns:a16="http://schemas.microsoft.com/office/drawing/2014/main" id="{799B7E9C-C0EA-4B6D-AF84-E8D92967C53E}"/>
              </a:ext>
            </a:extLst>
          </p:cNvPr>
          <p:cNvSpPr txBox="1"/>
          <p:nvPr/>
        </p:nvSpPr>
        <p:spPr>
          <a:xfrm>
            <a:off x="174812" y="995082"/>
            <a:ext cx="8390964" cy="5539978"/>
          </a:xfrm>
          <a:prstGeom prst="rect">
            <a:avLst/>
          </a:prstGeom>
          <a:noFill/>
        </p:spPr>
        <p:txBody>
          <a:bodyPr wrap="square" rtlCol="0">
            <a:spAutoFit/>
          </a:bodyPr>
          <a:lstStyle/>
          <a:p>
            <a:pPr marL="285750" indent="-285750">
              <a:buFont typeface="Arial" panose="020B0604020202020204" pitchFamily="34" charset="0"/>
              <a:buChar char="•"/>
            </a:pPr>
            <a:r>
              <a:rPr lang="en-US" sz="2800" b="0" i="0" cap="all" dirty="0">
                <a:solidFill>
                  <a:srgbClr val="707070"/>
                </a:solidFill>
                <a:effectLst/>
                <a:latin typeface="Raleway" panose="020B0604020202020204" pitchFamily="2" charset="0"/>
              </a:rPr>
              <a:t>SMARTER ADVERTISING</a:t>
            </a:r>
          </a:p>
          <a:p>
            <a:pPr marL="285750" indent="-285750">
              <a:buFont typeface="Arial" panose="020B0604020202020204" pitchFamily="34" charset="0"/>
              <a:buChar char="•"/>
            </a:pPr>
            <a:endParaRPr lang="en-US" sz="2800" b="0" i="0" cap="all" dirty="0">
              <a:solidFill>
                <a:srgbClr val="707070"/>
              </a:solidFill>
              <a:effectLst/>
              <a:latin typeface="Raleway" panose="020B0604020202020204" pitchFamily="2" charset="0"/>
            </a:endParaRPr>
          </a:p>
          <a:p>
            <a:pPr marL="285750" indent="-285750">
              <a:buFont typeface="Arial" panose="020B0604020202020204" pitchFamily="34" charset="0"/>
              <a:buChar char="•"/>
            </a:pPr>
            <a:r>
              <a:rPr lang="en-US" sz="2800" b="0" i="0" cap="all" dirty="0">
                <a:solidFill>
                  <a:srgbClr val="707070"/>
                </a:solidFill>
                <a:effectLst/>
                <a:latin typeface="Raleway" panose="020B0604020202020204" pitchFamily="2" charset="0"/>
              </a:rPr>
              <a:t>FIND MISSING PERSONS</a:t>
            </a:r>
          </a:p>
          <a:p>
            <a:pPr marL="285750" indent="-285750">
              <a:buFont typeface="Arial" panose="020B0604020202020204" pitchFamily="34" charset="0"/>
              <a:buChar char="•"/>
            </a:pPr>
            <a:endParaRPr lang="en-US" sz="2800" b="0" i="0" cap="all" dirty="0">
              <a:solidFill>
                <a:srgbClr val="707070"/>
              </a:solidFill>
              <a:effectLst/>
              <a:latin typeface="Raleway" panose="020B0604020202020204" pitchFamily="2" charset="0"/>
            </a:endParaRPr>
          </a:p>
          <a:p>
            <a:pPr marL="285750" indent="-285750">
              <a:buFont typeface="Arial" panose="020B0604020202020204" pitchFamily="34" charset="0"/>
              <a:buChar char="•"/>
            </a:pPr>
            <a:r>
              <a:rPr lang="en-US" sz="2800" b="0" i="0" cap="all" dirty="0">
                <a:solidFill>
                  <a:srgbClr val="707070"/>
                </a:solidFill>
                <a:effectLst/>
                <a:latin typeface="Raleway" panose="020B0604020202020204" pitchFamily="2" charset="0"/>
              </a:rPr>
              <a:t>PROTECT LAW ENFORCEMENT </a:t>
            </a:r>
          </a:p>
          <a:p>
            <a:pPr marL="285750" indent="-285750">
              <a:buFont typeface="Arial" panose="020B0604020202020204" pitchFamily="34" charset="0"/>
              <a:buChar char="•"/>
            </a:pPr>
            <a:endParaRPr lang="en-US" sz="2800" b="0" i="0" cap="all" dirty="0">
              <a:solidFill>
                <a:srgbClr val="707070"/>
              </a:solidFill>
              <a:effectLst/>
              <a:latin typeface="Raleway" panose="020B0604020202020204" pitchFamily="2" charset="0"/>
            </a:endParaRPr>
          </a:p>
          <a:p>
            <a:pPr marL="285750" indent="-285750">
              <a:buFont typeface="Arial" panose="020B0604020202020204" pitchFamily="34" charset="0"/>
              <a:buChar char="•"/>
            </a:pPr>
            <a:r>
              <a:rPr lang="en-US" sz="2800" b="0" i="0" cap="all" dirty="0">
                <a:solidFill>
                  <a:srgbClr val="707070"/>
                </a:solidFill>
                <a:effectLst/>
                <a:latin typeface="Raleway" panose="020B0604020202020204" pitchFamily="2" charset="0"/>
              </a:rPr>
              <a:t>IDENTIFY PEOPLE ON SOCIAL MEDIA</a:t>
            </a:r>
          </a:p>
          <a:p>
            <a:r>
              <a:rPr lang="en-US" sz="2800" b="0" i="0" cap="all" dirty="0">
                <a:solidFill>
                  <a:srgbClr val="707070"/>
                </a:solidFill>
                <a:effectLst/>
                <a:latin typeface="Raleway" panose="020B0604020202020204" pitchFamily="2" charset="0"/>
              </a:rPr>
              <a:t>   PLATFORMS</a:t>
            </a:r>
          </a:p>
          <a:p>
            <a:endParaRPr lang="en-US" sz="2800" b="0" i="0" cap="all" dirty="0">
              <a:solidFill>
                <a:srgbClr val="707070"/>
              </a:solidFill>
              <a:effectLst/>
              <a:latin typeface="Raleway" panose="020B0604020202020204" pitchFamily="2" charset="0"/>
            </a:endParaRPr>
          </a:p>
          <a:p>
            <a:pPr marL="285750" indent="-285750">
              <a:buFont typeface="Arial" panose="020B0604020202020204" pitchFamily="34" charset="0"/>
              <a:buChar char="•"/>
            </a:pPr>
            <a:r>
              <a:rPr lang="en-US" sz="2800" b="0" i="0" cap="all" dirty="0">
                <a:solidFill>
                  <a:srgbClr val="707070"/>
                </a:solidFill>
                <a:effectLst/>
                <a:latin typeface="Raleway" panose="020B0604020202020204" pitchFamily="2" charset="0"/>
              </a:rPr>
              <a:t>PROTECT SCHOOLS FROM THREATS</a:t>
            </a:r>
          </a:p>
          <a:p>
            <a:pPr marL="285750" indent="-285750">
              <a:buFont typeface="Arial" panose="020B0604020202020204" pitchFamily="34" charset="0"/>
              <a:buChar char="•"/>
            </a:pPr>
            <a:endParaRPr lang="en-US" sz="2800" b="0" i="0" cap="all" dirty="0">
              <a:solidFill>
                <a:srgbClr val="707070"/>
              </a:solidFill>
              <a:effectLst/>
              <a:latin typeface="Raleway" panose="020B0604020202020204" pitchFamily="2" charset="0"/>
            </a:endParaRPr>
          </a:p>
          <a:p>
            <a:pPr marL="285750" indent="-285750">
              <a:buFont typeface="Arial" panose="020B0604020202020204" pitchFamily="34" charset="0"/>
              <a:buChar char="•"/>
            </a:pPr>
            <a:r>
              <a:rPr lang="en-US" sz="2800" b="0" i="0" cap="all" dirty="0">
                <a:solidFill>
                  <a:srgbClr val="707070"/>
                </a:solidFill>
                <a:effectLst/>
                <a:latin typeface="Raleway" panose="020B0604020202020204" pitchFamily="2" charset="0"/>
              </a:rPr>
              <a:t>TRACK SCHOOL ATTENDANCE</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42688540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A824F63-FC3A-4223-A95B-D830366B35B3}"/>
              </a:ext>
            </a:extLst>
          </p:cNvPr>
          <p:cNvSpPr txBox="1"/>
          <p:nvPr/>
        </p:nvSpPr>
        <p:spPr>
          <a:xfrm>
            <a:off x="0" y="0"/>
            <a:ext cx="12048565" cy="769441"/>
          </a:xfrm>
          <a:prstGeom prst="rect">
            <a:avLst/>
          </a:prstGeom>
          <a:noFill/>
        </p:spPr>
        <p:txBody>
          <a:bodyPr wrap="square" rtlCol="0">
            <a:spAutoFit/>
          </a:bodyPr>
          <a:lstStyle/>
          <a:p>
            <a:r>
              <a:rPr lang="en-US" sz="4400" b="1" i="0" u="sng" dirty="0">
                <a:solidFill>
                  <a:schemeClr val="bg1"/>
                </a:solidFill>
                <a:effectLst/>
                <a:latin typeface="arial" panose="020B0604020202020204" pitchFamily="34" charset="0"/>
              </a:rPr>
              <a:t>Why is Python good for face recognition?</a:t>
            </a:r>
            <a:endParaRPr lang="en-US" sz="4400" b="1" u="sng" dirty="0">
              <a:solidFill>
                <a:schemeClr val="bg1"/>
              </a:solidFill>
            </a:endParaRPr>
          </a:p>
        </p:txBody>
      </p:sp>
      <p:sp>
        <p:nvSpPr>
          <p:cNvPr id="3" name="TextBox 2">
            <a:extLst>
              <a:ext uri="{FF2B5EF4-FFF2-40B4-BE49-F238E27FC236}">
                <a16:creationId xmlns:a16="http://schemas.microsoft.com/office/drawing/2014/main" id="{36E88D84-1C50-4C23-957E-A41CF500AC22}"/>
              </a:ext>
            </a:extLst>
          </p:cNvPr>
          <p:cNvSpPr txBox="1"/>
          <p:nvPr/>
        </p:nvSpPr>
        <p:spPr>
          <a:xfrm>
            <a:off x="129988" y="1653988"/>
            <a:ext cx="8987118" cy="2677656"/>
          </a:xfrm>
          <a:prstGeom prst="rect">
            <a:avLst/>
          </a:prstGeom>
          <a:noFill/>
        </p:spPr>
        <p:txBody>
          <a:bodyPr wrap="square" rtlCol="0">
            <a:spAutoFit/>
          </a:bodyPr>
          <a:lstStyle/>
          <a:p>
            <a:r>
              <a:rPr lang="en-US" sz="2800" b="0" i="0" dirty="0">
                <a:solidFill>
                  <a:schemeClr val="bg1"/>
                </a:solidFill>
                <a:effectLst/>
                <a:latin typeface="arial" panose="020B0604020202020204" pitchFamily="34" charset="0"/>
              </a:rPr>
              <a:t>Faces are made of thousands of fine lines and features that must be matched. The face recognition using Python, </a:t>
            </a:r>
            <a:r>
              <a:rPr lang="en-US" sz="2800" b="1" i="0" dirty="0">
                <a:solidFill>
                  <a:schemeClr val="bg1"/>
                </a:solidFill>
                <a:effectLst/>
                <a:latin typeface="arial" panose="020B0604020202020204" pitchFamily="34" charset="0"/>
              </a:rPr>
              <a:t>break the task of identifying the face into thousands of smaller, bite-sized tasks</a:t>
            </a:r>
            <a:r>
              <a:rPr lang="en-US" sz="2800" b="0" i="0" dirty="0">
                <a:solidFill>
                  <a:schemeClr val="bg1"/>
                </a:solidFill>
                <a:effectLst/>
                <a:latin typeface="arial" panose="020B0604020202020204" pitchFamily="34" charset="0"/>
              </a:rPr>
              <a:t>, each of which is easy to face Recognition Python is the latest trend in Machine Learning techniques.</a:t>
            </a:r>
            <a:endParaRPr lang="en-US" sz="2800" dirty="0">
              <a:solidFill>
                <a:schemeClr val="bg1"/>
              </a:solidFill>
            </a:endParaRPr>
          </a:p>
        </p:txBody>
      </p:sp>
    </p:spTree>
    <p:extLst>
      <p:ext uri="{BB962C8B-B14F-4D97-AF65-F5344CB8AC3E}">
        <p14:creationId xmlns:p14="http://schemas.microsoft.com/office/powerpoint/2010/main" val="34388093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594671E-58CF-43F0-835F-945BDDDC18A3}"/>
              </a:ext>
            </a:extLst>
          </p:cNvPr>
          <p:cNvSpPr txBox="1"/>
          <p:nvPr/>
        </p:nvSpPr>
        <p:spPr>
          <a:xfrm>
            <a:off x="673703" y="1080034"/>
            <a:ext cx="6273007" cy="4124206"/>
          </a:xfrm>
          <a:prstGeom prst="rect">
            <a:avLst/>
          </a:prstGeom>
          <a:noFill/>
        </p:spPr>
        <p:txBody>
          <a:bodyPr wrap="square" rtlCol="0">
            <a:spAutoFit/>
          </a:bodyPr>
          <a:lstStyle/>
          <a:p>
            <a:pPr marL="0" marR="0">
              <a:spcBef>
                <a:spcPts val="0"/>
              </a:spcBef>
              <a:spcAft>
                <a:spcPts val="0"/>
              </a:spcAft>
            </a:pPr>
            <a:r>
              <a:rPr lang="en-US" sz="4400" b="1" u="sng" dirty="0">
                <a:solidFill>
                  <a:schemeClr val="bg1"/>
                </a:solidFill>
                <a:effectLst/>
                <a:latin typeface="Arial" panose="020B0604020202020204" pitchFamily="34" charset="0"/>
                <a:ea typeface="Arial" panose="020B0604020202020204" pitchFamily="34" charset="0"/>
              </a:rPr>
              <a:t>Conclusion:</a:t>
            </a:r>
          </a:p>
          <a:p>
            <a:pPr marL="0" marR="0">
              <a:spcBef>
                <a:spcPts val="5"/>
              </a:spcBef>
              <a:spcAft>
                <a:spcPts val="0"/>
              </a:spcAft>
            </a:pPr>
            <a:r>
              <a:rPr lang="en-US" sz="3200" b="1" i="1" dirty="0">
                <a:solidFill>
                  <a:schemeClr val="bg1"/>
                </a:solidFill>
                <a:effectLst/>
                <a:latin typeface="Arial" panose="020B0604020202020204" pitchFamily="34" charset="0"/>
                <a:ea typeface="Arial" panose="020B0604020202020204" pitchFamily="34" charset="0"/>
              </a:rPr>
              <a:t> </a:t>
            </a:r>
          </a:p>
          <a:p>
            <a:pPr marL="0" marR="0">
              <a:spcBef>
                <a:spcPts val="0"/>
              </a:spcBef>
              <a:spcAft>
                <a:spcPts val="0"/>
              </a:spcAft>
            </a:pPr>
            <a:r>
              <a:rPr lang="en-US" sz="2400" i="1" dirty="0">
                <a:solidFill>
                  <a:schemeClr val="bg1"/>
                </a:solidFill>
                <a:effectLst/>
                <a:latin typeface="Arial" panose="020B0604020202020204" pitchFamily="34" charset="0"/>
                <a:ea typeface="Arial" panose="020B0604020202020204" pitchFamily="34" charset="0"/>
              </a:rPr>
              <a:t>Face recognition technology has come a long way in the last twenty years. Today, machines are able to automatically verify identity information for secure transactions, for surveillance and security tasks, and for access control to buildings etc.</a:t>
            </a:r>
          </a:p>
          <a:p>
            <a:pPr marL="0" marR="0">
              <a:spcBef>
                <a:spcPts val="0"/>
              </a:spcBef>
              <a:spcAft>
                <a:spcPts val="0"/>
              </a:spcAft>
            </a:pPr>
            <a:r>
              <a:rPr lang="en-US" sz="2400" i="1" dirty="0">
                <a:solidFill>
                  <a:schemeClr val="bg1"/>
                </a:solidFill>
                <a:effectLst/>
                <a:latin typeface="Arial" panose="020B0604020202020204" pitchFamily="34" charset="0"/>
                <a:ea typeface="Arial" panose="020B0604020202020204" pitchFamily="34" charset="0"/>
              </a:rPr>
              <a:t> </a:t>
            </a:r>
          </a:p>
          <a:p>
            <a:endParaRPr lang="en-US" dirty="0"/>
          </a:p>
        </p:txBody>
      </p:sp>
    </p:spTree>
    <p:extLst>
      <p:ext uri="{BB962C8B-B14F-4D97-AF65-F5344CB8AC3E}">
        <p14:creationId xmlns:p14="http://schemas.microsoft.com/office/powerpoint/2010/main" val="32759087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413448E-AB85-42CF-984B-CE0B7498BE35}"/>
              </a:ext>
            </a:extLst>
          </p:cNvPr>
          <p:cNvSpPr txBox="1"/>
          <p:nvPr/>
        </p:nvSpPr>
        <p:spPr>
          <a:xfrm>
            <a:off x="2081171" y="1223600"/>
            <a:ext cx="4421875" cy="923330"/>
          </a:xfrm>
          <a:prstGeom prst="rect">
            <a:avLst/>
          </a:prstGeom>
          <a:noFill/>
        </p:spPr>
        <p:txBody>
          <a:bodyPr wrap="square" rtlCol="0">
            <a:spAutoFit/>
          </a:bodyPr>
          <a:lstStyle/>
          <a:p>
            <a:r>
              <a:rPr lang="en-US" sz="5400" dirty="0">
                <a:solidFill>
                  <a:schemeClr val="bg1"/>
                </a:solidFill>
              </a:rPr>
              <a:t>THANK YOU</a:t>
            </a:r>
          </a:p>
        </p:txBody>
      </p:sp>
    </p:spTree>
    <p:extLst>
      <p:ext uri="{BB962C8B-B14F-4D97-AF65-F5344CB8AC3E}">
        <p14:creationId xmlns:p14="http://schemas.microsoft.com/office/powerpoint/2010/main" val="407459078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docProps/app.xml><?xml version="1.0" encoding="utf-8"?>
<Properties xmlns="http://schemas.openxmlformats.org/officeDocument/2006/extended-properties" xmlns:vt="http://schemas.openxmlformats.org/officeDocument/2006/docPropsVTypes">
  <Template>Office Theme</Template>
  <TotalTime>86</TotalTime>
  <Words>440</Words>
  <Application>Microsoft Office PowerPoint</Application>
  <PresentationFormat>Widescreen</PresentationFormat>
  <Paragraphs>41</Paragraphs>
  <Slides>10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size="19" baseType="lpstr">
      <vt:lpstr>Arial</vt:lpstr>
      <vt:lpstr>Arial</vt:lpstr>
      <vt:lpstr>Calibri</vt:lpstr>
      <vt:lpstr>Calibri Light</vt:lpstr>
      <vt:lpstr>Merriweather</vt:lpstr>
      <vt:lpstr>MuseoSans</vt:lpstr>
      <vt:lpstr>Raleway</vt:lpstr>
      <vt:lpstr>Trebuchet MS</vt:lpstr>
      <vt:lpstr>Office Theme</vt:lpstr>
      <vt:lpstr>FACE RECOGNITION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FACE RECOGNITION</dc:title>
  <dc:creator>Gourav Rana</dc:creator>
  <cp:lastModifiedBy>Gourav Rana</cp:lastModifiedBy>
  <cp:revision>2</cp:revision>
  <dcterms:created xsi:type="dcterms:W3CDTF">2021-10-08T06:06:11Z</dcterms:created>
  <dcterms:modified xsi:type="dcterms:W3CDTF">2021-11-28T15:38:08Z</dcterms:modified>
</cp:coreProperties>
</file>